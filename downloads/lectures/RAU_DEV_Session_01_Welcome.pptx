
<file path=[Content_Types].xml><?xml version="1.0" encoding="utf-8"?>
<Types xmlns="http://schemas.openxmlformats.org/package/2006/content-types">
  <Default Extension="jpeg" ContentType="image/jpeg"/>
  <Default Extension="jpg" ContentType="image/jpeg"/>
  <Default Extension="org&amp;utm_campaign=index&amp;utm_content=thumbnail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1" r:id="rId3"/>
    <p:sldId id="272" r:id="rId4"/>
    <p:sldId id="269" r:id="rId5"/>
    <p:sldId id="273" r:id="rId6"/>
    <p:sldId id="271" r:id="rId7"/>
    <p:sldId id="270" r:id="rId8"/>
    <p:sldId id="261" r:id="rId9"/>
    <p:sldId id="260" r:id="rId10"/>
    <p:sldId id="265" r:id="rId11"/>
    <p:sldId id="277" r:id="rId12"/>
    <p:sldId id="282" r:id="rId13"/>
    <p:sldId id="280" r:id="rId14"/>
    <p:sldId id="278" r:id="rId15"/>
    <p:sldId id="279" r:id="rId16"/>
    <p:sldId id="267" r:id="rId17"/>
    <p:sldId id="276" r:id="rId18"/>
    <p:sldId id="27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org&amp;utm_campaign=index&amp;utm_content=thumbnai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9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955279" y="640080"/>
            <a:ext cx="3566160" cy="5349240"/>
          </a:xfrm>
          <a:prstGeom prst="roundRect">
            <a:avLst/>
          </a:prstGeom>
          <a:solidFill>
            <a:srgbClr val="08273A"/>
          </a:solidFill>
          <a:ln w="15240">
            <a:solidFill>
              <a:srgbClr val="195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75320" y="960120"/>
            <a:ext cx="2743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1100" b="1" i="0">
                <a:solidFill>
                  <a:srgbClr val="25E6BB"/>
                </a:solidFill>
                <a:latin typeface="Aptos"/>
              </a:defRPr>
            </a:pPr>
            <a:r>
              <a:t>01  //  WELCOME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75320" y="1600200"/>
            <a:ext cx="2926080" cy="23317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1900" b="1" i="0">
                <a:solidFill>
                  <a:srgbClr val="B5FFE8"/>
                </a:solidFill>
                <a:latin typeface="Cascadia Code"/>
              </a:defRPr>
            </a:pPr>
            <a:r>
              <a:t>while (curious) {</a:t>
            </a:r>
          </a:p>
          <a:p>
            <a:pPr algn="l">
              <a:spcAft>
                <a:spcPts val="700"/>
              </a:spcAft>
              <a:defRPr sz="1900" b="1" i="0">
                <a:solidFill>
                  <a:srgbClr val="B5FFE8"/>
                </a:solidFill>
                <a:latin typeface="Cascadia Code"/>
              </a:defRPr>
            </a:pPr>
            <a:r>
              <a:t>    learn();</a:t>
            </a:r>
          </a:p>
          <a:p>
            <a:pPr algn="l">
              <a:spcAft>
                <a:spcPts val="700"/>
              </a:spcAft>
              <a:defRPr sz="1900" b="1" i="0">
                <a:solidFill>
                  <a:srgbClr val="B5FFE8"/>
                </a:solidFill>
                <a:latin typeface="Cascadia Code"/>
              </a:defRPr>
            </a:pPr>
            <a:r>
              <a:t>    build();</a:t>
            </a:r>
          </a:p>
          <a:p>
            <a:pPr algn="l">
              <a:spcAft>
                <a:spcPts val="700"/>
              </a:spcAft>
              <a:defRPr sz="1900" b="1" i="0">
                <a:solidFill>
                  <a:srgbClr val="B5FFE8"/>
                </a:solidFill>
                <a:latin typeface="Cascadia Code"/>
              </a:defRPr>
            </a:pPr>
            <a:r>
              <a:t>    share();</a:t>
            </a:r>
          </a:p>
          <a:p>
            <a:pPr algn="l">
              <a:spcAft>
                <a:spcPts val="700"/>
              </a:spcAft>
              <a:defRPr sz="1900" b="1" i="0">
                <a:solidFill>
                  <a:srgbClr val="B5FFE8"/>
                </a:solidFill>
                <a:latin typeface="Cascadia Code"/>
              </a:defRPr>
            </a:pPr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251960"/>
            <a:ext cx="2286000" cy="10058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5200" b="1" i="0">
                <a:solidFill>
                  <a:srgbClr val="25E6BB"/>
                </a:solidFill>
                <a:latin typeface="Aptos"/>
              </a:defRPr>
            </a:pPr>
            <a:r>
              <a:t>&lt;/&gt;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731520"/>
            <a:ext cx="67665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1100" b="1" i="0">
                <a:solidFill>
                  <a:srgbClr val="B7CCD8"/>
                </a:solidFill>
                <a:latin typeface="Aptos"/>
              </a:defRPr>
            </a:pPr>
            <a:r>
              <a:t>ROMANIAN-AMERICAN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371600" cy="86793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5400" b="1" i="0">
                <a:solidFill>
                  <a:srgbClr val="F8FBFD"/>
                </a:solidFill>
                <a:latin typeface="Aptos"/>
              </a:defRPr>
            </a:pPr>
            <a:r>
              <a:t>RAU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1353312"/>
            <a:ext cx="3200400" cy="9144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5400" b="1" i="0">
                <a:solidFill>
                  <a:srgbClr val="25E6BB"/>
                </a:solidFill>
                <a:latin typeface="Aptos"/>
              </a:defRPr>
            </a:pPr>
            <a:r>
              <a:rPr dirty="0"/>
              <a:t>DEV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F8FBFD"/>
                </a:solidFill>
                <a:latin typeface="Aptos"/>
              </a:defRPr>
            </a:pPr>
            <a:r>
              <a:t>FIRST SESSION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63240"/>
            <a:ext cx="6675120" cy="1737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2800" b="1" i="0">
                <a:solidFill>
                  <a:srgbClr val="F8FBFD"/>
                </a:solidFill>
                <a:latin typeface="Aptos"/>
              </a:defRPr>
            </a:pPr>
            <a:r>
              <a:t>Build skills.</a:t>
            </a:r>
          </a:p>
          <a:p>
            <a:pPr algn="l">
              <a:spcAft>
                <a:spcPts val="700"/>
              </a:spcAft>
              <a:defRPr sz="2800" b="1" i="0">
                <a:solidFill>
                  <a:srgbClr val="F8FBFD"/>
                </a:solidFill>
                <a:latin typeface="Aptos"/>
              </a:defRPr>
            </a:pPr>
            <a:r>
              <a:t>Share knowledge.</a:t>
            </a:r>
          </a:p>
          <a:p>
            <a:pPr algn="l">
              <a:spcAft>
                <a:spcPts val="700"/>
              </a:spcAft>
              <a:defRPr sz="2800" b="1" i="0">
                <a:solidFill>
                  <a:srgbClr val="F8FBFD"/>
                </a:solidFill>
                <a:latin typeface="Aptos"/>
              </a:defRPr>
            </a:pPr>
            <a:r>
              <a:t>Engineer together.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5166360"/>
            <a:ext cx="621792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1500" b="0" i="0">
                <a:solidFill>
                  <a:srgbClr val="B7CCD8"/>
                </a:solidFill>
                <a:latin typeface="Aptos"/>
              </a:defRPr>
            </a:pPr>
            <a:r>
              <a:t>A student-led community for people curious about software engineering.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" y="5989320"/>
            <a:ext cx="914400" cy="54864"/>
          </a:xfrm>
          <a:prstGeom prst="rect">
            <a:avLst/>
          </a:prstGeom>
          <a:solidFill>
            <a:srgbClr val="25E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900" b="1" i="0">
                <a:solidFill>
                  <a:srgbClr val="B7CCD8"/>
                </a:solidFill>
                <a:latin typeface="Aptos"/>
              </a:defRPr>
            </a:pPr>
            <a:r>
              <a:t>RAU DEV  •  SOFTWARE ENGINEERING CLUB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25E6BB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9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510D1D-2898-F3E8-C0F2-DA2E75555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625AE2F-E62E-91E0-E521-330D70A0B378}"/>
              </a:ext>
            </a:extLst>
          </p:cNvPr>
          <p:cNvSpPr txBox="1"/>
          <p:nvPr/>
        </p:nvSpPr>
        <p:spPr>
          <a:xfrm>
            <a:off x="4681728" y="3195090"/>
            <a:ext cx="2828544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700"/>
              </a:spcAft>
              <a:defRPr sz="2800" b="1" i="0">
                <a:solidFill>
                  <a:srgbClr val="F8FBFD"/>
                </a:solidFill>
                <a:latin typeface="Aptos"/>
              </a:defRPr>
            </a:pPr>
            <a:r>
              <a:rPr lang="ro-RO" dirty="0" err="1"/>
              <a:t>First</a:t>
            </a:r>
            <a:r>
              <a:rPr lang="ro-RO" dirty="0"/>
              <a:t>, </a:t>
            </a:r>
            <a:r>
              <a:rPr lang="ro-RO" dirty="0" err="1"/>
              <a:t>presence</a:t>
            </a:r>
            <a:r>
              <a:rPr lang="ro-RO" dirty="0"/>
              <a:t>!</a:t>
            </a:r>
            <a:endParaRPr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1DB8AC-B49C-CA45-690C-DC7FC6BF50CD}"/>
              </a:ext>
            </a:extLst>
          </p:cNvPr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900" b="1" i="0">
                <a:solidFill>
                  <a:srgbClr val="B7CCD8"/>
                </a:solidFill>
                <a:latin typeface="Aptos"/>
              </a:defRPr>
            </a:pPr>
            <a:r>
              <a:t>RAU DEV  •  SOFTWARE ENGINEERING CLUB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3C1B18-687E-4E1E-7BCA-D07D38231492}"/>
              </a:ext>
            </a:extLst>
          </p:cNvPr>
          <p:cNvSpPr txBox="1"/>
          <p:nvPr/>
        </p:nvSpPr>
        <p:spPr>
          <a:xfrm>
            <a:off x="11109960" y="6473952"/>
            <a:ext cx="50292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25E6BB"/>
                </a:solidFill>
                <a:latin typeface="Aptos"/>
              </a:defRPr>
            </a:pPr>
            <a:r>
              <a:rPr lang="ro-RO" dirty="0"/>
              <a:t>02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4C7B0A-47CA-25CE-CD6C-14298E908AC4}"/>
              </a:ext>
            </a:extLst>
          </p:cNvPr>
          <p:cNvSpPr txBox="1"/>
          <p:nvPr/>
        </p:nvSpPr>
        <p:spPr>
          <a:xfrm>
            <a:off x="7106154" y="2918722"/>
            <a:ext cx="808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rgbClr val="FFFF00"/>
                </a:solidFill>
              </a:rPr>
              <a:t>+10 </a:t>
            </a:r>
            <a:r>
              <a:rPr lang="ro-RO" dirty="0" err="1">
                <a:solidFill>
                  <a:srgbClr val="FFFF00"/>
                </a:solidFill>
              </a:rPr>
              <a:t>xp</a:t>
            </a:r>
            <a:endParaRPr lang="en-GB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7668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9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27E847-4EBE-2470-A87E-98EDA13C9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0CCBE3E-18DA-B684-76A4-F8B7F6B13161}"/>
              </a:ext>
            </a:extLst>
          </p:cNvPr>
          <p:cNvSpPr txBox="1"/>
          <p:nvPr/>
        </p:nvSpPr>
        <p:spPr>
          <a:xfrm>
            <a:off x="5035296" y="3195090"/>
            <a:ext cx="2121408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2800" b="1" i="0">
                <a:solidFill>
                  <a:srgbClr val="F8FBFD"/>
                </a:solidFill>
                <a:latin typeface="Aptos"/>
              </a:defRPr>
            </a:pPr>
            <a:r>
              <a:rPr lang="ro-RO" dirty="0"/>
              <a:t>Who are </a:t>
            </a:r>
            <a:r>
              <a:rPr lang="ro-RO" dirty="0" err="1"/>
              <a:t>we</a:t>
            </a:r>
            <a:r>
              <a:rPr lang="ro-RO" dirty="0"/>
              <a:t>?</a:t>
            </a:r>
            <a:endParaRPr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E396A4-BDAF-DEB6-64B8-660A62C26472}"/>
              </a:ext>
            </a:extLst>
          </p:cNvPr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900" b="1" i="0">
                <a:solidFill>
                  <a:srgbClr val="B7CCD8"/>
                </a:solidFill>
                <a:latin typeface="Aptos"/>
              </a:defRPr>
            </a:pPr>
            <a:r>
              <a:t>RAU DEV  •  SOFTWARE ENGINEERING CLUB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0356FE-1ED8-72B0-9082-15775458BE45}"/>
              </a:ext>
            </a:extLst>
          </p:cNvPr>
          <p:cNvSpPr txBox="1"/>
          <p:nvPr/>
        </p:nvSpPr>
        <p:spPr>
          <a:xfrm>
            <a:off x="11109960" y="6473952"/>
            <a:ext cx="50292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25E6BB"/>
                </a:solidFill>
                <a:latin typeface="Aptos"/>
              </a:defRPr>
            </a:pPr>
            <a:r>
              <a:rPr lang="ro-RO" dirty="0"/>
              <a:t>02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67072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9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C57D9E-4F50-3222-7BC8-32B3B0E93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27C8CF-97C8-3B39-1823-6B32D28FCAD2}"/>
              </a:ext>
            </a:extLst>
          </p:cNvPr>
          <p:cNvSpPr txBox="1"/>
          <p:nvPr/>
        </p:nvSpPr>
        <p:spPr>
          <a:xfrm>
            <a:off x="640080" y="384048"/>
            <a:ext cx="987552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25E6BB"/>
                </a:solidFill>
                <a:latin typeface="Aptos"/>
              </a:defRPr>
            </a:pPr>
            <a:r>
              <a:rPr lang="ro-RO" dirty="0"/>
              <a:t>01 / WHO ARE WE?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1AE49A-950A-E16A-36A6-E9AD286E2B46}"/>
              </a:ext>
            </a:extLst>
          </p:cNvPr>
          <p:cNvSpPr txBox="1"/>
          <p:nvPr/>
        </p:nvSpPr>
        <p:spPr>
          <a:xfrm>
            <a:off x="640080" y="777240"/>
            <a:ext cx="10972800" cy="51398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3100" b="1" i="0">
                <a:solidFill>
                  <a:srgbClr val="F8FBFD"/>
                </a:solidFill>
                <a:latin typeface="Aptos"/>
              </a:defRPr>
            </a:pPr>
            <a:r>
              <a:rPr lang="ro-RO" dirty="0"/>
              <a:t>Executive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90C197-6FD8-1F29-2116-8BBAAF8E5B46}"/>
              </a:ext>
            </a:extLst>
          </p:cNvPr>
          <p:cNvSpPr/>
          <p:nvPr/>
        </p:nvSpPr>
        <p:spPr>
          <a:xfrm>
            <a:off x="658368" y="1536192"/>
            <a:ext cx="777240" cy="50292"/>
          </a:xfrm>
          <a:prstGeom prst="rect">
            <a:avLst/>
          </a:prstGeom>
          <a:solidFill>
            <a:srgbClr val="25E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F4E150-B0A5-D983-7AB0-2C22AC16E69E}"/>
              </a:ext>
            </a:extLst>
          </p:cNvPr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900" b="1" i="0">
                <a:solidFill>
                  <a:srgbClr val="B7CCD8"/>
                </a:solidFill>
                <a:latin typeface="Aptos"/>
              </a:defRPr>
            </a:pPr>
            <a:r>
              <a:t>RAU DEV  •  SOFTWARE ENGINEERING CLUB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1A0984-F635-9FA7-22D0-7B6E282988BD}"/>
              </a:ext>
            </a:extLst>
          </p:cNvPr>
          <p:cNvSpPr txBox="1"/>
          <p:nvPr/>
        </p:nvSpPr>
        <p:spPr>
          <a:xfrm>
            <a:off x="11109960" y="6473952"/>
            <a:ext cx="50292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25E6BB"/>
                </a:solidFill>
                <a:latin typeface="Aptos"/>
              </a:defRPr>
            </a:pPr>
            <a:r>
              <a:rPr lang="ro-RO" dirty="0"/>
              <a:t>03</a:t>
            </a:r>
            <a:endParaRPr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D40D0A8-5062-CE52-D22B-22BBAEC2E8D5}"/>
              </a:ext>
            </a:extLst>
          </p:cNvPr>
          <p:cNvSpPr/>
          <p:nvPr/>
        </p:nvSpPr>
        <p:spPr>
          <a:xfrm>
            <a:off x="1784931" y="2221992"/>
            <a:ext cx="3383280" cy="2944368"/>
          </a:xfrm>
          <a:prstGeom prst="roundRect">
            <a:avLst/>
          </a:prstGeom>
          <a:solidFill>
            <a:srgbClr val="08273A"/>
          </a:solidFill>
          <a:ln w="15240">
            <a:solidFill>
              <a:srgbClr val="184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921E19-4FEC-6EBB-5FF1-FF530955BF4F}"/>
              </a:ext>
            </a:extLst>
          </p:cNvPr>
          <p:cNvSpPr/>
          <p:nvPr/>
        </p:nvSpPr>
        <p:spPr>
          <a:xfrm>
            <a:off x="1803219" y="2944368"/>
            <a:ext cx="54864" cy="1380744"/>
          </a:xfrm>
          <a:prstGeom prst="rect">
            <a:avLst/>
          </a:prstGeom>
          <a:solidFill>
            <a:srgbClr val="25E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BBD4472-AD10-D1CF-6770-4A1672D4B272}"/>
              </a:ext>
            </a:extLst>
          </p:cNvPr>
          <p:cNvSpPr/>
          <p:nvPr/>
        </p:nvSpPr>
        <p:spPr>
          <a:xfrm>
            <a:off x="7279618" y="2221992"/>
            <a:ext cx="3383280" cy="2944368"/>
          </a:xfrm>
          <a:prstGeom prst="roundRect">
            <a:avLst/>
          </a:prstGeom>
          <a:solidFill>
            <a:srgbClr val="08273A"/>
          </a:solidFill>
          <a:ln w="15240">
            <a:solidFill>
              <a:srgbClr val="184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AB2E8C7-F6AC-B20E-895D-9ADA127AAF27}"/>
              </a:ext>
            </a:extLst>
          </p:cNvPr>
          <p:cNvSpPr/>
          <p:nvPr/>
        </p:nvSpPr>
        <p:spPr>
          <a:xfrm>
            <a:off x="7297906" y="2944368"/>
            <a:ext cx="54864" cy="1380744"/>
          </a:xfrm>
          <a:prstGeom prst="rect">
            <a:avLst/>
          </a:prstGeom>
          <a:solidFill>
            <a:srgbClr val="B1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0DB360C-BA52-B6B1-68E1-5F8DBB406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6793" y="2447294"/>
            <a:ext cx="1879551" cy="188239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F59C3804-A6EF-52C6-ACEB-2CFC6FC767AA}"/>
              </a:ext>
            </a:extLst>
          </p:cNvPr>
          <p:cNvSpPr txBox="1"/>
          <p:nvPr/>
        </p:nvSpPr>
        <p:spPr>
          <a:xfrm>
            <a:off x="2146526" y="4429482"/>
            <a:ext cx="2660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</a:rPr>
              <a:t>Tiberiu-Gabriel Podăreanu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11A1515-2AF2-2B5E-3BBF-379BACE382F9}"/>
              </a:ext>
            </a:extLst>
          </p:cNvPr>
          <p:cNvSpPr txBox="1"/>
          <p:nvPr/>
        </p:nvSpPr>
        <p:spPr>
          <a:xfrm>
            <a:off x="3012562" y="4713946"/>
            <a:ext cx="9280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Executive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A0A9E58-D5DD-4C16-7158-30EB139D0190}"/>
              </a:ext>
            </a:extLst>
          </p:cNvPr>
          <p:cNvSpPr txBox="1"/>
          <p:nvPr/>
        </p:nvSpPr>
        <p:spPr>
          <a:xfrm>
            <a:off x="4983480" y="10342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EBA3BB-D3AB-D3CB-CFF0-1F7B94CBB71A}"/>
              </a:ext>
            </a:extLst>
          </p:cNvPr>
          <p:cNvSpPr txBox="1"/>
          <p:nvPr/>
        </p:nvSpPr>
        <p:spPr>
          <a:xfrm>
            <a:off x="7828060" y="4429482"/>
            <a:ext cx="2286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</a:rPr>
              <a:t>Ana-Gabriela Giurescu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2F53344-70EE-3457-B6D1-BB7DB65AC91A}"/>
              </a:ext>
            </a:extLst>
          </p:cNvPr>
          <p:cNvSpPr txBox="1"/>
          <p:nvPr/>
        </p:nvSpPr>
        <p:spPr>
          <a:xfrm>
            <a:off x="8519169" y="4712457"/>
            <a:ext cx="9041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Executive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22026B5-27BF-A388-56EE-E5BB90C2E0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3923" y="2481667"/>
            <a:ext cx="1894665" cy="1894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207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9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E53A04-BF4D-9E18-AB75-BD4AC532F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9B2A8C-8D23-0173-93F8-CC4114E201BB}"/>
              </a:ext>
            </a:extLst>
          </p:cNvPr>
          <p:cNvSpPr txBox="1"/>
          <p:nvPr/>
        </p:nvSpPr>
        <p:spPr>
          <a:xfrm>
            <a:off x="640080" y="384048"/>
            <a:ext cx="987552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25E6BB"/>
                </a:solidFill>
                <a:latin typeface="Aptos"/>
              </a:defRPr>
            </a:pPr>
            <a:r>
              <a:rPr lang="ro-RO" dirty="0"/>
              <a:t>01 / WHO ARE WE?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A37A6C-3BD9-E6CB-53F2-4E361FED688B}"/>
              </a:ext>
            </a:extLst>
          </p:cNvPr>
          <p:cNvSpPr txBox="1"/>
          <p:nvPr/>
        </p:nvSpPr>
        <p:spPr>
          <a:xfrm>
            <a:off x="640080" y="777240"/>
            <a:ext cx="10972800" cy="51398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3100" b="1" i="0">
                <a:solidFill>
                  <a:srgbClr val="F8FBFD"/>
                </a:solidFill>
                <a:latin typeface="Aptos"/>
              </a:defRPr>
            </a:pPr>
            <a:r>
              <a:rPr lang="ro-RO" dirty="0" err="1"/>
              <a:t>Tech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82CAE6-0708-2106-3F64-DC7DD960B839}"/>
              </a:ext>
            </a:extLst>
          </p:cNvPr>
          <p:cNvSpPr/>
          <p:nvPr/>
        </p:nvSpPr>
        <p:spPr>
          <a:xfrm>
            <a:off x="658368" y="1536192"/>
            <a:ext cx="777240" cy="50292"/>
          </a:xfrm>
          <a:prstGeom prst="rect">
            <a:avLst/>
          </a:prstGeom>
          <a:solidFill>
            <a:srgbClr val="25E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2D1A71-0F33-EF8C-C39D-B803B1B29B2A}"/>
              </a:ext>
            </a:extLst>
          </p:cNvPr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900" b="1" i="0">
                <a:solidFill>
                  <a:srgbClr val="B7CCD8"/>
                </a:solidFill>
                <a:latin typeface="Aptos"/>
              </a:defRPr>
            </a:pPr>
            <a:r>
              <a:t>RAU DEV  •  SOFTWARE ENGINEERING CLUB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96E397-3CF1-8EEC-6D09-44E21754E318}"/>
              </a:ext>
            </a:extLst>
          </p:cNvPr>
          <p:cNvSpPr txBox="1"/>
          <p:nvPr/>
        </p:nvSpPr>
        <p:spPr>
          <a:xfrm>
            <a:off x="11109960" y="6473952"/>
            <a:ext cx="50292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25E6BB"/>
                </a:solidFill>
                <a:latin typeface="Aptos"/>
              </a:defRPr>
            </a:pPr>
            <a:r>
              <a:rPr dirty="0"/>
              <a:t>0</a:t>
            </a:r>
            <a:r>
              <a:rPr lang="ro-RO" dirty="0"/>
              <a:t>4</a:t>
            </a:r>
            <a:endParaRPr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A9082DB-4E7C-7875-E1AE-D2469C18B25F}"/>
              </a:ext>
            </a:extLst>
          </p:cNvPr>
          <p:cNvSpPr/>
          <p:nvPr/>
        </p:nvSpPr>
        <p:spPr>
          <a:xfrm>
            <a:off x="1784931" y="2221992"/>
            <a:ext cx="3383280" cy="2944368"/>
          </a:xfrm>
          <a:prstGeom prst="roundRect">
            <a:avLst/>
          </a:prstGeom>
          <a:solidFill>
            <a:srgbClr val="08273A"/>
          </a:solidFill>
          <a:ln w="15240">
            <a:solidFill>
              <a:srgbClr val="184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26AFCD-2690-096A-26AB-28F9171CE268}"/>
              </a:ext>
            </a:extLst>
          </p:cNvPr>
          <p:cNvSpPr/>
          <p:nvPr/>
        </p:nvSpPr>
        <p:spPr>
          <a:xfrm>
            <a:off x="1803219" y="2944368"/>
            <a:ext cx="54864" cy="1380744"/>
          </a:xfrm>
          <a:prstGeom prst="rect">
            <a:avLst/>
          </a:prstGeom>
          <a:solidFill>
            <a:srgbClr val="25E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F46DEE9-D2CD-B4EC-B806-A5901C33CA37}"/>
              </a:ext>
            </a:extLst>
          </p:cNvPr>
          <p:cNvSpPr/>
          <p:nvPr/>
        </p:nvSpPr>
        <p:spPr>
          <a:xfrm>
            <a:off x="7279618" y="2221992"/>
            <a:ext cx="3383280" cy="2944368"/>
          </a:xfrm>
          <a:prstGeom prst="roundRect">
            <a:avLst/>
          </a:prstGeom>
          <a:solidFill>
            <a:srgbClr val="08273A"/>
          </a:solidFill>
          <a:ln w="15240">
            <a:solidFill>
              <a:srgbClr val="184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5FFA652-B7AB-8D31-21CF-4AB98CDD922A}"/>
              </a:ext>
            </a:extLst>
          </p:cNvPr>
          <p:cNvSpPr/>
          <p:nvPr/>
        </p:nvSpPr>
        <p:spPr>
          <a:xfrm>
            <a:off x="7297906" y="2944368"/>
            <a:ext cx="54864" cy="1380744"/>
          </a:xfrm>
          <a:prstGeom prst="rect">
            <a:avLst/>
          </a:prstGeom>
          <a:solidFill>
            <a:srgbClr val="B1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2F92AD-29EF-2BCA-C7A9-C8EC512786DA}"/>
              </a:ext>
            </a:extLst>
          </p:cNvPr>
          <p:cNvSpPr txBox="1"/>
          <p:nvPr/>
        </p:nvSpPr>
        <p:spPr>
          <a:xfrm>
            <a:off x="2708569" y="4429482"/>
            <a:ext cx="1535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</a:rPr>
              <a:t>Niculae Adelin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ED47C62-2BCC-B1FB-9A90-43C114B1F2D8}"/>
              </a:ext>
            </a:extLst>
          </p:cNvPr>
          <p:cNvSpPr txBox="1"/>
          <p:nvPr/>
        </p:nvSpPr>
        <p:spPr>
          <a:xfrm>
            <a:off x="2733848" y="4713946"/>
            <a:ext cx="16824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400" dirty="0" err="1">
                <a:solidFill>
                  <a:schemeClr val="bg1"/>
                </a:solidFill>
              </a:rPr>
              <a:t>Tech</a:t>
            </a:r>
            <a:r>
              <a:rPr lang="ro-RO" sz="1400" dirty="0">
                <a:solidFill>
                  <a:schemeClr val="bg1"/>
                </a:solidFill>
              </a:rPr>
              <a:t> </a:t>
            </a:r>
            <a:r>
              <a:rPr lang="ro-RO" sz="1400" dirty="0" err="1">
                <a:solidFill>
                  <a:schemeClr val="bg1"/>
                </a:solidFill>
              </a:rPr>
              <a:t>Coordinator</a:t>
            </a:r>
            <a:endParaRPr lang="ro-RO" sz="1400" dirty="0">
              <a:solidFill>
                <a:schemeClr val="bg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2D744CD-A092-4408-5B0D-451A0694FB98}"/>
              </a:ext>
            </a:extLst>
          </p:cNvPr>
          <p:cNvSpPr txBox="1"/>
          <p:nvPr/>
        </p:nvSpPr>
        <p:spPr>
          <a:xfrm>
            <a:off x="4983480" y="10342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57FE297-1F9A-D76C-DA24-E940794B9B88}"/>
              </a:ext>
            </a:extLst>
          </p:cNvPr>
          <p:cNvSpPr txBox="1"/>
          <p:nvPr/>
        </p:nvSpPr>
        <p:spPr>
          <a:xfrm>
            <a:off x="7916384" y="4429482"/>
            <a:ext cx="2109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 err="1">
                <a:solidFill>
                  <a:schemeClr val="bg1"/>
                </a:solidFill>
              </a:rPr>
              <a:t>Theodou</a:t>
            </a:r>
            <a:r>
              <a:rPr lang="ro-RO" dirty="0">
                <a:solidFill>
                  <a:schemeClr val="bg1"/>
                </a:solidFill>
              </a:rPr>
              <a:t> </a:t>
            </a:r>
            <a:r>
              <a:rPr lang="ro-RO" dirty="0" err="1">
                <a:solidFill>
                  <a:schemeClr val="bg1"/>
                </a:solidFill>
              </a:rPr>
              <a:t>Alexandros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909866C-7F61-6CBD-7DC4-A0F9268D8BBD}"/>
              </a:ext>
            </a:extLst>
          </p:cNvPr>
          <p:cNvSpPr txBox="1"/>
          <p:nvPr/>
        </p:nvSpPr>
        <p:spPr>
          <a:xfrm>
            <a:off x="8692862" y="4712457"/>
            <a:ext cx="556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400" dirty="0" err="1">
                <a:solidFill>
                  <a:schemeClr val="bg1"/>
                </a:solidFill>
              </a:rPr>
              <a:t>Tech</a:t>
            </a:r>
            <a:endParaRPr lang="en-GB" sz="1400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A2CCE4A-CC5D-3D0F-E06F-1DD8ED0BD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2555837"/>
            <a:ext cx="1404704" cy="16916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A9FF1D6-7ECC-AE46-FDEB-BC1F253AC5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3848" y="2472727"/>
            <a:ext cx="1451142" cy="1857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343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9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B9567C-959E-7661-2C50-A8A756857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6843F9-F18B-AFE3-274F-8E24A5C15B52}"/>
              </a:ext>
            </a:extLst>
          </p:cNvPr>
          <p:cNvSpPr txBox="1"/>
          <p:nvPr/>
        </p:nvSpPr>
        <p:spPr>
          <a:xfrm>
            <a:off x="640080" y="384048"/>
            <a:ext cx="987552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25E6BB"/>
                </a:solidFill>
                <a:latin typeface="Aptos"/>
              </a:defRPr>
            </a:pPr>
            <a:r>
              <a:rPr dirty="0"/>
              <a:t>0</a:t>
            </a:r>
            <a:r>
              <a:rPr lang="ro-RO" dirty="0"/>
              <a:t>1</a:t>
            </a:r>
            <a:r>
              <a:rPr dirty="0"/>
              <a:t> / </a:t>
            </a:r>
            <a:r>
              <a:rPr lang="ro-RO" dirty="0"/>
              <a:t>WHO ARE WE?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14BEC7-6C27-7A03-4C08-1525FFFB144C}"/>
              </a:ext>
            </a:extLst>
          </p:cNvPr>
          <p:cNvSpPr txBox="1"/>
          <p:nvPr/>
        </p:nvSpPr>
        <p:spPr>
          <a:xfrm>
            <a:off x="640080" y="777240"/>
            <a:ext cx="10972800" cy="51398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3100" b="1" i="0">
                <a:solidFill>
                  <a:srgbClr val="F8FBFD"/>
                </a:solidFill>
                <a:latin typeface="Aptos"/>
              </a:defRPr>
            </a:pPr>
            <a:r>
              <a:rPr lang="ro-RO" dirty="0" err="1"/>
              <a:t>Logistics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C6CBE4-57F4-16CE-6AE4-4A1B246D356C}"/>
              </a:ext>
            </a:extLst>
          </p:cNvPr>
          <p:cNvSpPr/>
          <p:nvPr/>
        </p:nvSpPr>
        <p:spPr>
          <a:xfrm>
            <a:off x="658368" y="1536192"/>
            <a:ext cx="777240" cy="50292"/>
          </a:xfrm>
          <a:prstGeom prst="rect">
            <a:avLst/>
          </a:prstGeom>
          <a:solidFill>
            <a:srgbClr val="25E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19CA58-9B20-27F4-5155-F87B55C2F3DD}"/>
              </a:ext>
            </a:extLst>
          </p:cNvPr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900" b="1" i="0">
                <a:solidFill>
                  <a:srgbClr val="B7CCD8"/>
                </a:solidFill>
                <a:latin typeface="Aptos"/>
              </a:defRPr>
            </a:pPr>
            <a:r>
              <a:t>RAU DEV  •  SOFTWARE ENGINEERING CLUB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3DA33A-464B-715B-6FF0-FA6BA1B77480}"/>
              </a:ext>
            </a:extLst>
          </p:cNvPr>
          <p:cNvSpPr txBox="1"/>
          <p:nvPr/>
        </p:nvSpPr>
        <p:spPr>
          <a:xfrm>
            <a:off x="11109960" y="6473952"/>
            <a:ext cx="50292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25E6BB"/>
                </a:solidFill>
                <a:latin typeface="Aptos"/>
              </a:defRPr>
            </a:pPr>
            <a:r>
              <a:rPr lang="ro-RO" dirty="0"/>
              <a:t>05</a:t>
            </a:r>
            <a:endParaRPr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6269102-3108-C6B0-A2A3-599257B24F1F}"/>
              </a:ext>
            </a:extLst>
          </p:cNvPr>
          <p:cNvSpPr/>
          <p:nvPr/>
        </p:nvSpPr>
        <p:spPr>
          <a:xfrm>
            <a:off x="1770280" y="2221992"/>
            <a:ext cx="3383280" cy="2944368"/>
          </a:xfrm>
          <a:prstGeom prst="roundRect">
            <a:avLst/>
          </a:prstGeom>
          <a:solidFill>
            <a:srgbClr val="08273A"/>
          </a:solidFill>
          <a:ln w="15240">
            <a:solidFill>
              <a:srgbClr val="184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7413BD-BD31-81F2-388A-67D1EE3BB8A1}"/>
              </a:ext>
            </a:extLst>
          </p:cNvPr>
          <p:cNvSpPr/>
          <p:nvPr/>
        </p:nvSpPr>
        <p:spPr>
          <a:xfrm>
            <a:off x="1788568" y="2944368"/>
            <a:ext cx="54864" cy="1380744"/>
          </a:xfrm>
          <a:prstGeom prst="rect">
            <a:avLst/>
          </a:prstGeom>
          <a:solidFill>
            <a:srgbClr val="25E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3158BFB-599F-781D-AA80-C49C1C60358E}"/>
              </a:ext>
            </a:extLst>
          </p:cNvPr>
          <p:cNvSpPr/>
          <p:nvPr/>
        </p:nvSpPr>
        <p:spPr>
          <a:xfrm>
            <a:off x="7257897" y="2221992"/>
            <a:ext cx="3383280" cy="2944368"/>
          </a:xfrm>
          <a:prstGeom prst="roundRect">
            <a:avLst/>
          </a:prstGeom>
          <a:solidFill>
            <a:srgbClr val="08273A"/>
          </a:solidFill>
          <a:ln w="15240">
            <a:solidFill>
              <a:srgbClr val="184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742181C-0290-353A-AB79-E2A3E0800934}"/>
              </a:ext>
            </a:extLst>
          </p:cNvPr>
          <p:cNvSpPr/>
          <p:nvPr/>
        </p:nvSpPr>
        <p:spPr>
          <a:xfrm>
            <a:off x="7276185" y="2944368"/>
            <a:ext cx="54864" cy="1380744"/>
          </a:xfrm>
          <a:prstGeom prst="rect">
            <a:avLst/>
          </a:prstGeom>
          <a:solidFill>
            <a:srgbClr val="B1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1FE7BC6-078E-9578-FD17-4A9FAA6D3876}"/>
              </a:ext>
            </a:extLst>
          </p:cNvPr>
          <p:cNvSpPr txBox="1"/>
          <p:nvPr/>
        </p:nvSpPr>
        <p:spPr>
          <a:xfrm>
            <a:off x="8244899" y="4429482"/>
            <a:ext cx="15434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</a:rPr>
              <a:t>Călin </a:t>
            </a:r>
            <a:r>
              <a:rPr lang="ro-RO" dirty="0" err="1">
                <a:solidFill>
                  <a:schemeClr val="bg1"/>
                </a:solidFill>
              </a:rPr>
              <a:t>Mercone</a:t>
            </a:r>
            <a:endParaRPr lang="ro-RO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C51D474-2A97-6F9A-13BF-FA140E76C44D}"/>
              </a:ext>
            </a:extLst>
          </p:cNvPr>
          <p:cNvSpPr txBox="1"/>
          <p:nvPr/>
        </p:nvSpPr>
        <p:spPr>
          <a:xfrm>
            <a:off x="8565849" y="4713946"/>
            <a:ext cx="16824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400" dirty="0" err="1">
                <a:solidFill>
                  <a:schemeClr val="bg1"/>
                </a:solidFill>
              </a:rPr>
              <a:t>Logistics</a:t>
            </a:r>
            <a:endParaRPr lang="ro-RO" sz="1400" dirty="0">
              <a:solidFill>
                <a:schemeClr val="bg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548410A-9AE7-3C74-E01C-FD16AD66BFFD}"/>
              </a:ext>
            </a:extLst>
          </p:cNvPr>
          <p:cNvSpPr txBox="1"/>
          <p:nvPr/>
        </p:nvSpPr>
        <p:spPr>
          <a:xfrm>
            <a:off x="4983480" y="10342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712315-8996-E373-929B-9DD725429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0549" y="2542900"/>
            <a:ext cx="1772200" cy="17722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3AB12FA-D1F1-F01F-56F8-AA545EC0D660}"/>
              </a:ext>
            </a:extLst>
          </p:cNvPr>
          <p:cNvSpPr txBox="1"/>
          <p:nvPr/>
        </p:nvSpPr>
        <p:spPr>
          <a:xfrm>
            <a:off x="2644424" y="4398639"/>
            <a:ext cx="144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</a:rPr>
              <a:t>Iulian Fecioru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9C5505-272D-6414-20FA-DEA3844A17F0}"/>
              </a:ext>
            </a:extLst>
          </p:cNvPr>
          <p:cNvSpPr txBox="1"/>
          <p:nvPr/>
        </p:nvSpPr>
        <p:spPr>
          <a:xfrm>
            <a:off x="2508707" y="4674805"/>
            <a:ext cx="17718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400" dirty="0" err="1">
                <a:solidFill>
                  <a:schemeClr val="bg1"/>
                </a:solidFill>
              </a:rPr>
              <a:t>Logistics</a:t>
            </a:r>
            <a:r>
              <a:rPr lang="ro-RO" sz="1400" dirty="0">
                <a:solidFill>
                  <a:schemeClr val="bg1"/>
                </a:solidFill>
              </a:rPr>
              <a:t> </a:t>
            </a:r>
            <a:r>
              <a:rPr lang="ro-RO" sz="1400" dirty="0" err="1">
                <a:solidFill>
                  <a:schemeClr val="bg1"/>
                </a:solidFill>
              </a:rPr>
              <a:t>Coordinator</a:t>
            </a:r>
            <a:endParaRPr lang="ro-RO" sz="1400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C26EB04-EB25-4449-EAEF-3D0A1E809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4786" y="2497179"/>
            <a:ext cx="1855739" cy="1855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76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9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ACE1A-CAB1-BC65-4BC7-F4C46D4D3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B40906-C25B-5041-5F59-BFF2CB9E3FD2}"/>
              </a:ext>
            </a:extLst>
          </p:cNvPr>
          <p:cNvSpPr txBox="1"/>
          <p:nvPr/>
        </p:nvSpPr>
        <p:spPr>
          <a:xfrm>
            <a:off x="640080" y="384048"/>
            <a:ext cx="987552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25E6BB"/>
                </a:solidFill>
                <a:latin typeface="Aptos"/>
              </a:defRPr>
            </a:pPr>
            <a:r>
              <a:rPr lang="ro-RO" dirty="0"/>
              <a:t>01 / WHO ARE WE?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CDF3E6-566B-8E46-7F3D-EA4D51493C11}"/>
              </a:ext>
            </a:extLst>
          </p:cNvPr>
          <p:cNvSpPr txBox="1"/>
          <p:nvPr/>
        </p:nvSpPr>
        <p:spPr>
          <a:xfrm>
            <a:off x="640080" y="777240"/>
            <a:ext cx="10972800" cy="51398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3100" b="1" i="0">
                <a:solidFill>
                  <a:srgbClr val="F8FBFD"/>
                </a:solidFill>
                <a:latin typeface="Aptos"/>
              </a:defRPr>
            </a:pPr>
            <a:r>
              <a:rPr lang="ro-RO" dirty="0" err="1"/>
              <a:t>Tutoring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C03D4A-A644-9017-23E8-6AC0A226BBF6}"/>
              </a:ext>
            </a:extLst>
          </p:cNvPr>
          <p:cNvSpPr/>
          <p:nvPr/>
        </p:nvSpPr>
        <p:spPr>
          <a:xfrm>
            <a:off x="658368" y="1536192"/>
            <a:ext cx="777240" cy="50292"/>
          </a:xfrm>
          <a:prstGeom prst="rect">
            <a:avLst/>
          </a:prstGeom>
          <a:solidFill>
            <a:srgbClr val="25E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E3CAA3-86F1-AB7D-FC22-B9177B3E9FC3}"/>
              </a:ext>
            </a:extLst>
          </p:cNvPr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900" b="1" i="0">
                <a:solidFill>
                  <a:srgbClr val="B7CCD8"/>
                </a:solidFill>
                <a:latin typeface="Aptos"/>
              </a:defRPr>
            </a:pPr>
            <a:r>
              <a:t>RAU DEV  •  SOFTWARE ENGINEERING CLUB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6E35C2-15E8-80CB-D24E-52D04F7FA898}"/>
              </a:ext>
            </a:extLst>
          </p:cNvPr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25E6B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EEB2EFB-E685-9EF4-7E78-C5105AF517C3}"/>
              </a:ext>
            </a:extLst>
          </p:cNvPr>
          <p:cNvSpPr/>
          <p:nvPr/>
        </p:nvSpPr>
        <p:spPr>
          <a:xfrm>
            <a:off x="4422648" y="2944368"/>
            <a:ext cx="54864" cy="1380744"/>
          </a:xfrm>
          <a:prstGeom prst="rect">
            <a:avLst/>
          </a:prstGeom>
          <a:solidFill>
            <a:srgbClr val="B1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69AF720-64B9-70C4-9809-55AB438A267A}"/>
              </a:ext>
            </a:extLst>
          </p:cNvPr>
          <p:cNvSpPr txBox="1"/>
          <p:nvPr/>
        </p:nvSpPr>
        <p:spPr>
          <a:xfrm>
            <a:off x="4983480" y="10342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</p:txBody>
      </p:sp>
      <p:sp>
        <p:nvSpPr>
          <p:cNvPr id="22" name="Rounded Rectangle 7">
            <a:extLst>
              <a:ext uri="{FF2B5EF4-FFF2-40B4-BE49-F238E27FC236}">
                <a16:creationId xmlns:a16="http://schemas.microsoft.com/office/drawing/2014/main" id="{3BBE7ED1-232D-6A42-112A-8346599C6C9A}"/>
              </a:ext>
            </a:extLst>
          </p:cNvPr>
          <p:cNvSpPr/>
          <p:nvPr/>
        </p:nvSpPr>
        <p:spPr>
          <a:xfrm>
            <a:off x="1784931" y="2221992"/>
            <a:ext cx="3383280" cy="2944368"/>
          </a:xfrm>
          <a:prstGeom prst="roundRect">
            <a:avLst/>
          </a:prstGeom>
          <a:solidFill>
            <a:srgbClr val="08273A"/>
          </a:solidFill>
          <a:ln w="15240">
            <a:solidFill>
              <a:srgbClr val="184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432D119-94C4-922F-8D22-71483EE7C297}"/>
              </a:ext>
            </a:extLst>
          </p:cNvPr>
          <p:cNvSpPr/>
          <p:nvPr/>
        </p:nvSpPr>
        <p:spPr>
          <a:xfrm>
            <a:off x="1803219" y="2944368"/>
            <a:ext cx="54864" cy="1380744"/>
          </a:xfrm>
          <a:prstGeom prst="rect">
            <a:avLst/>
          </a:prstGeom>
          <a:solidFill>
            <a:srgbClr val="25E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0640A0E9-223B-C7EC-7E7F-0CE707A95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6793" y="2447294"/>
            <a:ext cx="1879551" cy="188239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0CF836B9-74D5-CA27-2E60-A752A02082BB}"/>
              </a:ext>
            </a:extLst>
          </p:cNvPr>
          <p:cNvSpPr txBox="1"/>
          <p:nvPr/>
        </p:nvSpPr>
        <p:spPr>
          <a:xfrm>
            <a:off x="2146526" y="4429482"/>
            <a:ext cx="2660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</a:rPr>
              <a:t>Tiberiu-Gabriel Podăreanu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31D0057-3157-6137-9457-093B727A3CD0}"/>
              </a:ext>
            </a:extLst>
          </p:cNvPr>
          <p:cNvSpPr txBox="1"/>
          <p:nvPr/>
        </p:nvSpPr>
        <p:spPr>
          <a:xfrm>
            <a:off x="2635320" y="4713946"/>
            <a:ext cx="16824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400" dirty="0" err="1">
                <a:solidFill>
                  <a:schemeClr val="bg1"/>
                </a:solidFill>
              </a:rPr>
              <a:t>Beginner</a:t>
            </a:r>
            <a:r>
              <a:rPr lang="ro-RO" sz="1400" dirty="0">
                <a:solidFill>
                  <a:schemeClr val="bg1"/>
                </a:solidFill>
              </a:rPr>
              <a:t> </a:t>
            </a:r>
            <a:r>
              <a:rPr lang="ro-RO" sz="1400" dirty="0" err="1">
                <a:solidFill>
                  <a:schemeClr val="bg1"/>
                </a:solidFill>
              </a:rPr>
              <a:t>Tutoring</a:t>
            </a:r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49" name="Rounded Rectangle 17">
            <a:extLst>
              <a:ext uri="{FF2B5EF4-FFF2-40B4-BE49-F238E27FC236}">
                <a16:creationId xmlns:a16="http://schemas.microsoft.com/office/drawing/2014/main" id="{A9E288F5-C9EA-31E0-04A3-95BBD1C621F4}"/>
              </a:ext>
            </a:extLst>
          </p:cNvPr>
          <p:cNvSpPr/>
          <p:nvPr/>
        </p:nvSpPr>
        <p:spPr>
          <a:xfrm>
            <a:off x="7257897" y="2221992"/>
            <a:ext cx="3383280" cy="2944368"/>
          </a:xfrm>
          <a:prstGeom prst="roundRect">
            <a:avLst/>
          </a:prstGeom>
          <a:solidFill>
            <a:srgbClr val="08273A"/>
          </a:solidFill>
          <a:ln w="15240">
            <a:solidFill>
              <a:srgbClr val="184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B105324-5FCB-D489-1390-F28B53EA1866}"/>
              </a:ext>
            </a:extLst>
          </p:cNvPr>
          <p:cNvSpPr/>
          <p:nvPr/>
        </p:nvSpPr>
        <p:spPr>
          <a:xfrm>
            <a:off x="7276185" y="2944368"/>
            <a:ext cx="54864" cy="1380744"/>
          </a:xfrm>
          <a:prstGeom prst="rect">
            <a:avLst/>
          </a:prstGeom>
          <a:solidFill>
            <a:srgbClr val="B1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967CD6A-852F-5783-5E6E-6021F46F1518}"/>
              </a:ext>
            </a:extLst>
          </p:cNvPr>
          <p:cNvSpPr txBox="1"/>
          <p:nvPr/>
        </p:nvSpPr>
        <p:spPr>
          <a:xfrm>
            <a:off x="8244899" y="4429482"/>
            <a:ext cx="15377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</a:rPr>
              <a:t>Iulian Popescu</a:t>
            </a:r>
          </a:p>
          <a:p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E3F3C05-68FC-5633-D47D-B23C27CD7EA1}"/>
              </a:ext>
            </a:extLst>
          </p:cNvPr>
          <p:cNvSpPr txBox="1"/>
          <p:nvPr/>
        </p:nvSpPr>
        <p:spPr>
          <a:xfrm>
            <a:off x="8130549" y="4713946"/>
            <a:ext cx="21177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400" dirty="0">
                <a:solidFill>
                  <a:schemeClr val="bg1"/>
                </a:solidFill>
              </a:rPr>
              <a:t>Intermediate </a:t>
            </a:r>
            <a:r>
              <a:rPr lang="ro-RO" sz="1400" dirty="0" err="1">
                <a:solidFill>
                  <a:schemeClr val="bg1"/>
                </a:solidFill>
              </a:rPr>
              <a:t>Tutoring</a:t>
            </a:r>
            <a:endParaRPr lang="ro-RO" sz="1400" dirty="0">
              <a:solidFill>
                <a:schemeClr val="bg1"/>
              </a:solidFill>
            </a:endParaRP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9EB60D42-EA3E-5C47-CA8B-429C007443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5963" y="2511787"/>
            <a:ext cx="1827148" cy="1827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199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9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987552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25E6BB"/>
                </a:solidFill>
                <a:latin typeface="Aptos"/>
              </a:defRPr>
            </a:pPr>
            <a:r>
              <a:rPr dirty="0"/>
              <a:t>0</a:t>
            </a:r>
            <a:r>
              <a:rPr lang="ro-RO" dirty="0"/>
              <a:t>2</a:t>
            </a:r>
            <a:r>
              <a:rPr dirty="0"/>
              <a:t> / MEET EACH OTHER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3100" b="1" i="0">
                <a:solidFill>
                  <a:srgbClr val="F8FBFD"/>
                </a:solidFill>
                <a:latin typeface="Aptos"/>
              </a:defRPr>
            </a:pPr>
            <a:r>
              <a:t>Your turn: the 30-second introduction.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36192"/>
            <a:ext cx="777240" cy="50292"/>
          </a:xfrm>
          <a:prstGeom prst="rect">
            <a:avLst/>
          </a:prstGeom>
          <a:solidFill>
            <a:srgbClr val="25E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719072"/>
            <a:ext cx="107899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1500" b="0" i="0">
                <a:solidFill>
                  <a:srgbClr val="B7CCD8"/>
                </a:solidFill>
                <a:latin typeface="Aptos"/>
              </a:defRPr>
            </a:pPr>
            <a:r>
              <a:t>Pair up with someone you haven’t spoken to yet. Take turns, then introduce your partner.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900" b="1" i="0">
                <a:solidFill>
                  <a:srgbClr val="B7CCD8"/>
                </a:solidFill>
                <a:latin typeface="Aptos"/>
              </a:defRPr>
            </a:pPr>
            <a:r>
              <a:t>RAU DEV  •  SOFTWARE ENGINEERING CLUB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25E6BB"/>
                </a:solidFill>
                <a:latin typeface="Aptos"/>
              </a:defRPr>
            </a:pPr>
            <a:r>
              <a:rPr lang="ro-RO" dirty="0"/>
              <a:t>07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777240" y="2743200"/>
            <a:ext cx="3383280" cy="1783080"/>
          </a:xfrm>
          <a:prstGeom prst="roundRect">
            <a:avLst/>
          </a:prstGeom>
          <a:solidFill>
            <a:srgbClr val="08273A"/>
          </a:solidFill>
          <a:ln w="15240">
            <a:solidFill>
              <a:srgbClr val="184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95528" y="2944368"/>
            <a:ext cx="54864" cy="1380744"/>
          </a:xfrm>
          <a:prstGeom prst="rect">
            <a:avLst/>
          </a:prstGeom>
          <a:solidFill>
            <a:srgbClr val="25E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944368"/>
            <a:ext cx="50292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2400" b="1" i="0">
                <a:solidFill>
                  <a:srgbClr val="25E6B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944368"/>
            <a:ext cx="2386584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F8FBFD"/>
                </a:solidFill>
                <a:latin typeface="Aptos"/>
              </a:defRPr>
            </a:pPr>
            <a:r>
              <a:t>Name &amp;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3520440"/>
            <a:ext cx="2907792" cy="8686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7CCD8"/>
                </a:solidFill>
                <a:latin typeface="Aptos"/>
              </a:defRPr>
            </a:pPr>
            <a:r>
              <a:t>What should we call you?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2743200"/>
            <a:ext cx="3383280" cy="1783080"/>
          </a:xfrm>
          <a:prstGeom prst="roundRect">
            <a:avLst/>
          </a:prstGeom>
          <a:solidFill>
            <a:srgbClr val="08273A"/>
          </a:solidFill>
          <a:ln w="15240">
            <a:solidFill>
              <a:srgbClr val="184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90288" y="2944368"/>
            <a:ext cx="54864" cy="1380744"/>
          </a:xfrm>
          <a:prstGeom prst="rect">
            <a:avLst/>
          </a:prstGeom>
          <a:solidFill>
            <a:srgbClr val="44A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00600" y="2944368"/>
            <a:ext cx="50292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2400" b="1" i="0">
                <a:solidFill>
                  <a:srgbClr val="44A4E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67528" y="2944368"/>
            <a:ext cx="2386584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F8FBFD"/>
                </a:solidFill>
                <a:latin typeface="Aptos"/>
              </a:defRPr>
            </a:pPr>
            <a:r>
              <a:t>Your tech 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18888" y="3520440"/>
            <a:ext cx="2907792" cy="8686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7CCD8"/>
                </a:solidFill>
                <a:latin typeface="Aptos"/>
              </a:defRPr>
            </a:pPr>
            <a:r>
              <a:t>What have you tried—or what would you like to try?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2743200"/>
            <a:ext cx="3383280" cy="1783080"/>
          </a:xfrm>
          <a:prstGeom prst="roundRect">
            <a:avLst/>
          </a:prstGeom>
          <a:solidFill>
            <a:srgbClr val="08273A"/>
          </a:solidFill>
          <a:ln w="15240">
            <a:solidFill>
              <a:srgbClr val="184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385048" y="2944368"/>
            <a:ext cx="54864" cy="1380744"/>
          </a:xfrm>
          <a:prstGeom prst="rect">
            <a:avLst/>
          </a:prstGeom>
          <a:solidFill>
            <a:srgbClr val="B1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95360" y="2944368"/>
            <a:ext cx="50292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2400" b="1" i="0">
                <a:solidFill>
                  <a:srgbClr val="B16E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2288" y="2944368"/>
            <a:ext cx="2386584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F8FBFD"/>
                </a:solidFill>
                <a:latin typeface="Aptos"/>
              </a:defRPr>
            </a:pPr>
            <a:r>
              <a:t>Your curiosity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13648" y="3520440"/>
            <a:ext cx="2907792" cy="8686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7CCD8"/>
                </a:solidFill>
                <a:latin typeface="Aptos"/>
              </a:defRPr>
            </a:pPr>
            <a:r>
              <a:t>What’s one thing you’d love to learn or build?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166360"/>
            <a:ext cx="1024128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700"/>
              </a:spcAft>
              <a:defRPr sz="1700" b="1" i="0">
                <a:solidFill>
                  <a:srgbClr val="B5FFE8"/>
                </a:solidFill>
                <a:latin typeface="Aptos"/>
              </a:defRPr>
            </a:pPr>
            <a:r>
              <a:t>Remember: you don’t need an impressive answer. A genuine one is better.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9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987552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25E6BB"/>
                </a:solidFill>
                <a:latin typeface="Aptos"/>
              </a:defRPr>
            </a:pPr>
            <a:r>
              <a:rPr dirty="0"/>
              <a:t>0</a:t>
            </a:r>
            <a:r>
              <a:rPr lang="ro-RO" dirty="0"/>
              <a:t>3</a:t>
            </a:r>
            <a:r>
              <a:rPr dirty="0"/>
              <a:t> / WHAT WE CAN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3100" b="1" i="0">
                <a:solidFill>
                  <a:srgbClr val="F8FBFD"/>
                </a:solidFill>
                <a:latin typeface="Aptos"/>
              </a:defRPr>
            </a:pPr>
            <a:r>
              <a:t>Five ways to turn curiosity into practice.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36192"/>
            <a:ext cx="777240" cy="50292"/>
          </a:xfrm>
          <a:prstGeom prst="rect">
            <a:avLst/>
          </a:prstGeom>
          <a:solidFill>
            <a:srgbClr val="25E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719072"/>
            <a:ext cx="107899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1500" b="0" i="0">
                <a:solidFill>
                  <a:srgbClr val="B7CCD8"/>
                </a:solidFill>
                <a:latin typeface="Aptos"/>
              </a:defRPr>
            </a:pPr>
            <a:r>
              <a:t>We’ll start small, then build on what members find useful.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900" b="1" i="0">
                <a:solidFill>
                  <a:srgbClr val="B7CCD8"/>
                </a:solidFill>
                <a:latin typeface="Aptos"/>
              </a:defRPr>
            </a:pPr>
            <a:r>
              <a:t>RAU DEV  •  SOFTWARE ENGINEERING CLUB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25E6BB"/>
                </a:solidFill>
                <a:latin typeface="Aptos"/>
              </a:defRPr>
            </a:pPr>
            <a:r>
              <a:rPr dirty="0"/>
              <a:t>0</a:t>
            </a:r>
            <a:r>
              <a:rPr lang="ro-RO" dirty="0"/>
              <a:t>8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822960" y="2286000"/>
            <a:ext cx="10561320" cy="594360"/>
          </a:xfrm>
          <a:prstGeom prst="roundRect">
            <a:avLst/>
          </a:prstGeom>
          <a:solidFill>
            <a:srgbClr val="08273A"/>
          </a:solidFill>
          <a:ln w="15240">
            <a:solidFill>
              <a:srgbClr val="184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359152"/>
            <a:ext cx="54864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2100" b="1" i="0">
                <a:solidFill>
                  <a:srgbClr val="25E6BB"/>
                </a:solidFill>
                <a:latin typeface="Aptos"/>
              </a:defRPr>
            </a:pPr>
            <a:r>
              <a:t>&lt;/&gt;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386584"/>
            <a:ext cx="29260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F8FBFD"/>
                </a:solidFill>
                <a:latin typeface="Aptos"/>
              </a:defRPr>
            </a:pPr>
            <a:r>
              <a:t>Coding challenges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404872"/>
            <a:ext cx="62179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7CCD8"/>
                </a:solidFill>
                <a:latin typeface="Aptos"/>
              </a:defRPr>
            </a:pPr>
            <a:r>
              <a:t>Solve problems and explain your approach.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035808"/>
            <a:ext cx="10561320" cy="594360"/>
          </a:xfrm>
          <a:prstGeom prst="roundRect">
            <a:avLst/>
          </a:prstGeom>
          <a:solidFill>
            <a:srgbClr val="08273A"/>
          </a:solidFill>
          <a:ln w="15240">
            <a:solidFill>
              <a:srgbClr val="184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3108960"/>
            <a:ext cx="54864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2100" b="1" i="0">
                <a:solidFill>
                  <a:srgbClr val="44A4EB"/>
                </a:solidFill>
                <a:latin typeface="Aptos"/>
              </a:defRPr>
            </a:pPr>
            <a:r>
              <a:t>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136391"/>
            <a:ext cx="29260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F8FBFD"/>
                </a:solidFill>
                <a:latin typeface="Aptos"/>
              </a:defRPr>
            </a:pPr>
            <a:r>
              <a:t>Mock interviews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3154679"/>
            <a:ext cx="62179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7CCD8"/>
                </a:solidFill>
                <a:latin typeface="Aptos"/>
              </a:defRPr>
            </a:pPr>
            <a:r>
              <a:t>Practise technical and behavioural questions.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785615"/>
            <a:ext cx="10561320" cy="594360"/>
          </a:xfrm>
          <a:prstGeom prst="roundRect">
            <a:avLst/>
          </a:prstGeom>
          <a:solidFill>
            <a:srgbClr val="08273A"/>
          </a:solidFill>
          <a:ln w="15240">
            <a:solidFill>
              <a:srgbClr val="184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1560" y="3858768"/>
            <a:ext cx="54864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2100" b="1" i="0">
                <a:solidFill>
                  <a:srgbClr val="FFBE4C"/>
                </a:solidFill>
                <a:latin typeface="Aptos"/>
              </a:defRPr>
            </a:pPr>
            <a:r>
              <a:t>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886200"/>
            <a:ext cx="29260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F8FBFD"/>
                </a:solidFill>
                <a:latin typeface="Aptos"/>
              </a:defRPr>
            </a:pPr>
            <a:r>
              <a:t>Engineering workshops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3904487"/>
            <a:ext cx="62179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7CCD8"/>
                </a:solidFill>
                <a:latin typeface="Aptos"/>
              </a:defRPr>
            </a:pPr>
            <a:r>
              <a:t>Explore Git, testing, APIs, and more.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535424"/>
            <a:ext cx="10561320" cy="594360"/>
          </a:xfrm>
          <a:prstGeom prst="roundRect">
            <a:avLst/>
          </a:prstGeom>
          <a:solidFill>
            <a:srgbClr val="08273A"/>
          </a:solidFill>
          <a:ln w="15240">
            <a:solidFill>
              <a:srgbClr val="184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4608576"/>
            <a:ext cx="54864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2100" b="1" i="0">
                <a:solidFill>
                  <a:srgbClr val="B16EFF"/>
                </a:solidFill>
                <a:latin typeface="Aptos"/>
              </a:defRPr>
            </a:pPr>
            <a:r>
              <a:t>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636008"/>
            <a:ext cx="29260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F8FBFD"/>
                </a:solidFill>
                <a:latin typeface="Aptos"/>
              </a:defRPr>
            </a:pPr>
            <a:r>
              <a:t>Guest speakers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4654296"/>
            <a:ext cx="62179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7CCD8"/>
                </a:solidFill>
                <a:latin typeface="Aptos"/>
              </a:defRPr>
            </a:pPr>
            <a:r>
              <a:t>Hear honest stories from industry professionals.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285231"/>
            <a:ext cx="10561320" cy="594360"/>
          </a:xfrm>
          <a:prstGeom prst="roundRect">
            <a:avLst/>
          </a:prstGeom>
          <a:solidFill>
            <a:srgbClr val="08273A"/>
          </a:solidFill>
          <a:ln w="15240">
            <a:solidFill>
              <a:srgbClr val="184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51560" y="5358383"/>
            <a:ext cx="54864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2100" b="1" i="0">
                <a:solidFill>
                  <a:srgbClr val="B5FFE8"/>
                </a:solidFill>
                <a:latin typeface="Aptos"/>
              </a:defRPr>
            </a:pPr>
            <a:r>
              <a:t>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385816"/>
            <a:ext cx="29260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F8FBFD"/>
                </a:solidFill>
                <a:latin typeface="Aptos"/>
              </a:defRPr>
            </a:pPr>
            <a:r>
              <a:t>Projects &amp; networking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5404103"/>
            <a:ext cx="62179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7CCD8"/>
                </a:solidFill>
                <a:latin typeface="Aptos"/>
              </a:defRPr>
            </a:pPr>
            <a:r>
              <a:t>Meet teammates and build something useful.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9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987552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25E6BB"/>
                </a:solidFill>
                <a:latin typeface="Aptos"/>
              </a:defRPr>
            </a:pPr>
            <a:r>
              <a:rPr dirty="0"/>
              <a:t>0</a:t>
            </a:r>
            <a:r>
              <a:rPr lang="ro-RO" dirty="0"/>
              <a:t>4</a:t>
            </a:r>
            <a:r>
              <a:rPr dirty="0"/>
              <a:t> / OUR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3100" b="1" i="0">
                <a:solidFill>
                  <a:srgbClr val="F8FBFD"/>
                </a:solidFill>
                <a:latin typeface="Aptos"/>
              </a:defRPr>
            </a:pPr>
            <a:r>
              <a:rPr dirty="0"/>
              <a:t>A few principles make a strong community.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36192"/>
            <a:ext cx="777240" cy="50292"/>
          </a:xfrm>
          <a:prstGeom prst="rect">
            <a:avLst/>
          </a:prstGeom>
          <a:solidFill>
            <a:srgbClr val="25E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719072"/>
            <a:ext cx="107899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1500" b="0" i="0">
                <a:solidFill>
                  <a:srgbClr val="B7CCD8"/>
                </a:solidFill>
                <a:latin typeface="Aptos"/>
              </a:defRPr>
            </a:pPr>
            <a:r>
              <a:t>The kind of club we build depends on how we treat one another.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900" b="1" i="0">
                <a:solidFill>
                  <a:srgbClr val="B7CCD8"/>
                </a:solidFill>
                <a:latin typeface="Aptos"/>
              </a:defRPr>
            </a:pPr>
            <a:r>
              <a:t>RAU DEV  •  SOFTWARE ENGINEERING CLUB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25E6BB"/>
                </a:solidFill>
                <a:latin typeface="Aptos"/>
              </a:defRPr>
            </a:pPr>
            <a:r>
              <a:rPr lang="ro-RO" dirty="0"/>
              <a:t>09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777240" y="2423160"/>
            <a:ext cx="5212080" cy="1280160"/>
          </a:xfrm>
          <a:prstGeom prst="roundRect">
            <a:avLst/>
          </a:prstGeom>
          <a:solidFill>
            <a:srgbClr val="08273A"/>
          </a:solidFill>
          <a:ln w="15240">
            <a:solidFill>
              <a:srgbClr val="184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95528" y="2624328"/>
            <a:ext cx="54864" cy="877824"/>
          </a:xfrm>
          <a:prstGeom prst="rect">
            <a:avLst/>
          </a:prstGeom>
          <a:solidFill>
            <a:srgbClr val="25E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624328"/>
            <a:ext cx="4782312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F8FBFD"/>
                </a:solidFill>
                <a:latin typeface="Aptos"/>
              </a:defRPr>
            </a:pPr>
            <a:r>
              <a:t>Curiosity over ego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200400"/>
            <a:ext cx="4736592" cy="36575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7CCD8"/>
                </a:solidFill>
                <a:latin typeface="Aptos"/>
              </a:defRPr>
            </a:pPr>
            <a:r>
              <a:t>Ask questions. Stay open to being wrong.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423160"/>
            <a:ext cx="5212080" cy="1280160"/>
          </a:xfrm>
          <a:prstGeom prst="roundRect">
            <a:avLst/>
          </a:prstGeom>
          <a:solidFill>
            <a:srgbClr val="08273A"/>
          </a:solidFill>
          <a:ln w="15240">
            <a:solidFill>
              <a:srgbClr val="184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19088" y="2624328"/>
            <a:ext cx="54864" cy="877824"/>
          </a:xfrm>
          <a:prstGeom prst="rect">
            <a:avLst/>
          </a:prstGeom>
          <a:solidFill>
            <a:srgbClr val="44A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2624328"/>
            <a:ext cx="4782312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F8FBFD"/>
                </a:solidFill>
                <a:latin typeface="Aptos"/>
              </a:defRPr>
            </a:pPr>
            <a:r>
              <a:t>Progress over perfection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7688" y="3200400"/>
            <a:ext cx="4736592" cy="36575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7CCD8"/>
                </a:solidFill>
                <a:latin typeface="Aptos"/>
              </a:defRPr>
            </a:pPr>
            <a:r>
              <a:t>Small steps count. Keep practising.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977639"/>
            <a:ext cx="5212080" cy="1280160"/>
          </a:xfrm>
          <a:prstGeom prst="roundRect">
            <a:avLst/>
          </a:prstGeom>
          <a:solidFill>
            <a:srgbClr val="08273A"/>
          </a:solidFill>
          <a:ln w="15240">
            <a:solidFill>
              <a:srgbClr val="184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95528" y="4178807"/>
            <a:ext cx="54864" cy="877824"/>
          </a:xfrm>
          <a:prstGeom prst="rect">
            <a:avLst/>
          </a:prstGeom>
          <a:solidFill>
            <a:srgbClr val="B1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178807"/>
            <a:ext cx="4782312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F8FBFD"/>
                </a:solidFill>
                <a:latin typeface="Aptos"/>
              </a:defRPr>
            </a:pPr>
            <a:r>
              <a:t>Collaboration over competition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4754879"/>
            <a:ext cx="4736592" cy="36575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7CCD8"/>
                </a:solidFill>
                <a:latin typeface="Aptos"/>
              </a:defRPr>
            </a:pPr>
            <a:r>
              <a:t>Share credit and help teammates succeed.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977639"/>
            <a:ext cx="5212080" cy="1280160"/>
          </a:xfrm>
          <a:prstGeom prst="roundRect">
            <a:avLst/>
          </a:prstGeom>
          <a:solidFill>
            <a:srgbClr val="08273A"/>
          </a:solidFill>
          <a:ln w="15240">
            <a:solidFill>
              <a:srgbClr val="184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19088" y="4178807"/>
            <a:ext cx="54864" cy="877824"/>
          </a:xfrm>
          <a:prstGeom prst="rect">
            <a:avLst/>
          </a:prstGeom>
          <a:solidFill>
            <a:srgbClr val="FFB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29400" y="4178807"/>
            <a:ext cx="4782312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F8FBFD"/>
                </a:solidFill>
                <a:latin typeface="Aptos"/>
              </a:defRPr>
            </a:pPr>
            <a:r>
              <a:t>Respect at every level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7688" y="4754879"/>
            <a:ext cx="4736592" cy="36575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7CCD8"/>
                </a:solidFill>
                <a:latin typeface="Aptos"/>
              </a:defRPr>
            </a:pPr>
            <a:r>
              <a:t>Make room for different backgrounds and experience.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9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35B13C-0392-8772-C0AA-0A19D2A91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57BD74C-3021-5222-3970-1C5E5B9D0348}"/>
              </a:ext>
            </a:extLst>
          </p:cNvPr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900" b="1" i="0">
                <a:solidFill>
                  <a:srgbClr val="B7CCD8"/>
                </a:solidFill>
                <a:latin typeface="Aptos"/>
              </a:defRPr>
            </a:pPr>
            <a:r>
              <a:t>RAU DEV  •  SOFTWARE ENGINEERING CLUB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2FBAC1-06E6-A237-2F4F-19F9F2DFC3A0}"/>
              </a:ext>
            </a:extLst>
          </p:cNvPr>
          <p:cNvSpPr txBox="1"/>
          <p:nvPr/>
        </p:nvSpPr>
        <p:spPr>
          <a:xfrm>
            <a:off x="11109960" y="6473952"/>
            <a:ext cx="50292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25E6BB"/>
                </a:solidFill>
                <a:latin typeface="Aptos"/>
              </a:defRPr>
            </a:pPr>
            <a:r>
              <a:rPr lang="ro-RO" dirty="0"/>
              <a:t>10</a:t>
            </a:r>
            <a:endParaRPr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A0AE3BA-E471-F8C9-78DD-659EE60388F7}"/>
              </a:ext>
            </a:extLst>
          </p:cNvPr>
          <p:cNvSpPr txBox="1"/>
          <p:nvPr/>
        </p:nvSpPr>
        <p:spPr>
          <a:xfrm>
            <a:off x="0" y="3244334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800" dirty="0">
                <a:solidFill>
                  <a:schemeClr val="bg1"/>
                </a:solidFill>
              </a:rPr>
              <a:t>https://cses.fi/problemset/task/1068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D66769-C9D9-495E-6F37-A36683997F6D}"/>
              </a:ext>
            </a:extLst>
          </p:cNvPr>
          <p:cNvSpPr txBox="1"/>
          <p:nvPr/>
        </p:nvSpPr>
        <p:spPr>
          <a:xfrm>
            <a:off x="640080" y="777240"/>
            <a:ext cx="10972800" cy="51398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3100" b="1" i="0">
                <a:solidFill>
                  <a:srgbClr val="F8FBFD"/>
                </a:solidFill>
                <a:latin typeface="Aptos"/>
              </a:defRPr>
            </a:pPr>
            <a:r>
              <a:rPr lang="ro-RO" dirty="0" err="1"/>
              <a:t>Starting</a:t>
            </a:r>
            <a:r>
              <a:rPr lang="ro-RO" dirty="0"/>
              <a:t> </a:t>
            </a:r>
            <a:r>
              <a:rPr lang="ro-RO" dirty="0" err="1"/>
              <a:t>Challenge</a:t>
            </a:r>
            <a:r>
              <a:rPr lang="ro-RO" dirty="0"/>
              <a:t>:</a:t>
            </a:r>
            <a:endParaRPr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A77DFA3-96F5-525E-E532-8E63FE0DDC08}"/>
              </a:ext>
            </a:extLst>
          </p:cNvPr>
          <p:cNvSpPr/>
          <p:nvPr/>
        </p:nvSpPr>
        <p:spPr>
          <a:xfrm>
            <a:off x="658368" y="1536192"/>
            <a:ext cx="777240" cy="50292"/>
          </a:xfrm>
          <a:prstGeom prst="rect">
            <a:avLst/>
          </a:prstGeom>
          <a:solidFill>
            <a:srgbClr val="25E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251F0BD-465B-1C19-F9EC-4D70A8454EAB}"/>
              </a:ext>
            </a:extLst>
          </p:cNvPr>
          <p:cNvSpPr txBox="1"/>
          <p:nvPr/>
        </p:nvSpPr>
        <p:spPr>
          <a:xfrm>
            <a:off x="7106154" y="2918722"/>
            <a:ext cx="3372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 err="1">
                <a:solidFill>
                  <a:srgbClr val="FFFF00"/>
                </a:solidFill>
              </a:rPr>
              <a:t>no</a:t>
            </a:r>
            <a:r>
              <a:rPr lang="ro-RO" dirty="0">
                <a:solidFill>
                  <a:srgbClr val="FFFF00"/>
                </a:solidFill>
              </a:rPr>
              <a:t> </a:t>
            </a:r>
            <a:r>
              <a:rPr lang="ro-RO" dirty="0" err="1">
                <a:solidFill>
                  <a:srgbClr val="FFFF00"/>
                </a:solidFill>
              </a:rPr>
              <a:t>xp</a:t>
            </a:r>
            <a:r>
              <a:rPr lang="ro-RO" dirty="0">
                <a:solidFill>
                  <a:srgbClr val="FFFF00"/>
                </a:solidFill>
              </a:rPr>
              <a:t> :) </a:t>
            </a:r>
            <a:r>
              <a:rPr lang="ro-RO" dirty="0" err="1">
                <a:solidFill>
                  <a:srgbClr val="FFFF00"/>
                </a:solidFill>
              </a:rPr>
              <a:t>we</a:t>
            </a:r>
            <a:r>
              <a:rPr lang="ro-RO" dirty="0">
                <a:solidFill>
                  <a:srgbClr val="FFFF00"/>
                </a:solidFill>
              </a:rPr>
              <a:t> </a:t>
            </a:r>
            <a:r>
              <a:rPr lang="ro-RO" dirty="0" err="1">
                <a:solidFill>
                  <a:srgbClr val="FFFF00"/>
                </a:solidFill>
              </a:rPr>
              <a:t>want</a:t>
            </a:r>
            <a:r>
              <a:rPr lang="ro-RO" dirty="0">
                <a:solidFill>
                  <a:srgbClr val="FFFF00"/>
                </a:solidFill>
              </a:rPr>
              <a:t> </a:t>
            </a:r>
            <a:r>
              <a:rPr lang="ro-RO" dirty="0" err="1">
                <a:solidFill>
                  <a:srgbClr val="FFFF00"/>
                </a:solidFill>
              </a:rPr>
              <a:t>to</a:t>
            </a:r>
            <a:r>
              <a:rPr lang="ro-RO" dirty="0">
                <a:solidFill>
                  <a:srgbClr val="FFFF00"/>
                </a:solidFill>
              </a:rPr>
              <a:t> test </a:t>
            </a:r>
            <a:r>
              <a:rPr lang="ro-RO" dirty="0" err="1">
                <a:solidFill>
                  <a:srgbClr val="FFFF00"/>
                </a:solidFill>
              </a:rPr>
              <a:t>your</a:t>
            </a:r>
            <a:r>
              <a:rPr lang="ro-RO" dirty="0">
                <a:solidFill>
                  <a:srgbClr val="FFFF00"/>
                </a:solidFill>
              </a:rPr>
              <a:t> </a:t>
            </a:r>
            <a:r>
              <a:rPr lang="ro-RO" dirty="0" err="1">
                <a:solidFill>
                  <a:srgbClr val="FFFF00"/>
                </a:solidFill>
              </a:rPr>
              <a:t>skills</a:t>
            </a:r>
            <a:endParaRPr lang="en-GB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49884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9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AD2504-089B-3B3D-6B4D-21FAED2C6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785AEC5-2D89-A962-D63F-51195480FF0E}"/>
              </a:ext>
            </a:extLst>
          </p:cNvPr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900" b="1" i="0">
                <a:solidFill>
                  <a:srgbClr val="B7CCD8"/>
                </a:solidFill>
                <a:latin typeface="Aptos"/>
              </a:defRPr>
            </a:pPr>
            <a:r>
              <a:t>RAU DEV  •  SOFTWARE ENGINEERING CLUB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7AF9BA-B297-459A-F2FE-F4DDF93053A5}"/>
              </a:ext>
            </a:extLst>
          </p:cNvPr>
          <p:cNvSpPr txBox="1"/>
          <p:nvPr/>
        </p:nvSpPr>
        <p:spPr>
          <a:xfrm>
            <a:off x="11109960" y="6473952"/>
            <a:ext cx="50292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25E6BB"/>
                </a:solidFill>
                <a:latin typeface="Aptos"/>
              </a:defRPr>
            </a:pPr>
            <a:r>
              <a:rPr lang="ro-RO" dirty="0"/>
              <a:t>11</a:t>
            </a:r>
            <a:endParaRPr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CDA2542-D92F-C390-14D3-0A70FE82DE5E}"/>
              </a:ext>
            </a:extLst>
          </p:cNvPr>
          <p:cNvSpPr txBox="1"/>
          <p:nvPr/>
        </p:nvSpPr>
        <p:spPr>
          <a:xfrm>
            <a:off x="0" y="3244334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800" dirty="0">
                <a:solidFill>
                  <a:schemeClr val="bg1"/>
                </a:solidFill>
              </a:rPr>
              <a:t>https://cses.fi/paste/f32f1ba2c3f9e940fb63c9/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B171E7C-0B37-5C0C-AD2C-D5F03E34D475}"/>
              </a:ext>
            </a:extLst>
          </p:cNvPr>
          <p:cNvSpPr txBox="1"/>
          <p:nvPr/>
        </p:nvSpPr>
        <p:spPr>
          <a:xfrm>
            <a:off x="640080" y="777240"/>
            <a:ext cx="10972800" cy="51398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3100" b="1" i="0">
                <a:solidFill>
                  <a:srgbClr val="F8FBFD"/>
                </a:solidFill>
                <a:latin typeface="Aptos"/>
              </a:defRPr>
            </a:pPr>
            <a:r>
              <a:rPr lang="ro-RO" dirty="0" err="1"/>
              <a:t>Starting</a:t>
            </a:r>
            <a:r>
              <a:rPr lang="ro-RO" dirty="0"/>
              <a:t> </a:t>
            </a:r>
            <a:r>
              <a:rPr lang="ro-RO" dirty="0" err="1"/>
              <a:t>Challenge</a:t>
            </a:r>
            <a:r>
              <a:rPr lang="ro-RO" dirty="0"/>
              <a:t> </a:t>
            </a:r>
            <a:r>
              <a:rPr lang="ro-RO" dirty="0" err="1"/>
              <a:t>Solution</a:t>
            </a:r>
            <a:r>
              <a:rPr lang="ro-RO" dirty="0"/>
              <a:t>:</a:t>
            </a:r>
            <a:endParaRPr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7A30739-427B-8EC0-D867-4F6534D90153}"/>
              </a:ext>
            </a:extLst>
          </p:cNvPr>
          <p:cNvSpPr/>
          <p:nvPr/>
        </p:nvSpPr>
        <p:spPr>
          <a:xfrm>
            <a:off x="658368" y="1536192"/>
            <a:ext cx="777240" cy="50292"/>
          </a:xfrm>
          <a:prstGeom prst="rect">
            <a:avLst/>
          </a:prstGeom>
          <a:solidFill>
            <a:srgbClr val="25E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6603889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9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C8A1AC-9317-7E38-A141-481FC9691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C274430-4E74-6E78-3D1B-17FB9A760613}"/>
              </a:ext>
            </a:extLst>
          </p:cNvPr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900" b="1" i="0">
                <a:solidFill>
                  <a:srgbClr val="B7CCD8"/>
                </a:solidFill>
                <a:latin typeface="Aptos"/>
              </a:defRPr>
            </a:pPr>
            <a:r>
              <a:t>RAU DEV  •  SOFTWARE ENGINEERING CLUB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188E82-1357-0CA4-AC8C-A67D6479A4A8}"/>
              </a:ext>
            </a:extLst>
          </p:cNvPr>
          <p:cNvSpPr txBox="1"/>
          <p:nvPr/>
        </p:nvSpPr>
        <p:spPr>
          <a:xfrm>
            <a:off x="11109960" y="6473952"/>
            <a:ext cx="50292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25E6BB"/>
                </a:solidFill>
                <a:latin typeface="Aptos"/>
              </a:defRPr>
            </a:pPr>
            <a:r>
              <a:rPr lang="ro-RO" dirty="0"/>
              <a:t>12</a:t>
            </a:r>
            <a:endParaRPr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55CC34-A455-655B-1E29-B4C3C385DC42}"/>
              </a:ext>
            </a:extLst>
          </p:cNvPr>
          <p:cNvSpPr txBox="1"/>
          <p:nvPr/>
        </p:nvSpPr>
        <p:spPr>
          <a:xfrm>
            <a:off x="0" y="3244334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o-RO" sz="4800" dirty="0">
                <a:solidFill>
                  <a:schemeClr val="bg1"/>
                </a:solidFill>
              </a:rPr>
              <a:t>Break Time!</a:t>
            </a:r>
            <a:endParaRPr lang="en-GB" sz="4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7195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9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8AAD53-25BC-35F9-BE61-08302CA70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80580F5-5F00-B334-26B9-6AC213F93013}"/>
              </a:ext>
            </a:extLst>
          </p:cNvPr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900" b="1" i="0">
                <a:solidFill>
                  <a:srgbClr val="B7CCD8"/>
                </a:solidFill>
                <a:latin typeface="Aptos"/>
              </a:defRPr>
            </a:pPr>
            <a:r>
              <a:t>RAU DEV  •  SOFTWARE ENGINEERING CLUB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5E1CF8-621E-D51D-ED4D-0A2ED7597D50}"/>
              </a:ext>
            </a:extLst>
          </p:cNvPr>
          <p:cNvSpPr txBox="1"/>
          <p:nvPr/>
        </p:nvSpPr>
        <p:spPr>
          <a:xfrm>
            <a:off x="11109960" y="6473952"/>
            <a:ext cx="50292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25E6BB"/>
                </a:solidFill>
                <a:latin typeface="Aptos"/>
              </a:defRPr>
            </a:pPr>
            <a:r>
              <a:rPr lang="ro-RO" dirty="0"/>
              <a:t>13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499DCA-AD1C-2F06-B9F0-D71E12AB2898}"/>
              </a:ext>
            </a:extLst>
          </p:cNvPr>
          <p:cNvSpPr txBox="1"/>
          <p:nvPr/>
        </p:nvSpPr>
        <p:spPr>
          <a:xfrm>
            <a:off x="609600" y="2850979"/>
            <a:ext cx="10972800" cy="77559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lang="en-GB" sz="4800" dirty="0">
                <a:solidFill>
                  <a:schemeClr val="bg1"/>
                </a:solidFill>
              </a:rPr>
              <a:t>https://leetcode.com/problems/fizz-buzz/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CC650A-24E3-B205-6B30-BCC2718AAC13}"/>
              </a:ext>
            </a:extLst>
          </p:cNvPr>
          <p:cNvSpPr/>
          <p:nvPr/>
        </p:nvSpPr>
        <p:spPr>
          <a:xfrm>
            <a:off x="658368" y="1536192"/>
            <a:ext cx="777240" cy="50292"/>
          </a:xfrm>
          <a:prstGeom prst="rect">
            <a:avLst/>
          </a:prstGeom>
          <a:solidFill>
            <a:srgbClr val="25E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87F5BF-95FA-BC4F-8A1C-080F7762342C}"/>
              </a:ext>
            </a:extLst>
          </p:cNvPr>
          <p:cNvSpPr txBox="1"/>
          <p:nvPr/>
        </p:nvSpPr>
        <p:spPr>
          <a:xfrm>
            <a:off x="640080" y="777240"/>
            <a:ext cx="10972800" cy="51398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3100" b="1" i="0">
                <a:solidFill>
                  <a:srgbClr val="F8FBFD"/>
                </a:solidFill>
                <a:latin typeface="Aptos"/>
              </a:defRPr>
            </a:pPr>
            <a:r>
              <a:rPr lang="ro-RO" dirty="0" err="1"/>
              <a:t>Weekly</a:t>
            </a:r>
            <a:r>
              <a:rPr lang="ro-RO" dirty="0"/>
              <a:t> </a:t>
            </a:r>
            <a:r>
              <a:rPr lang="ro-RO" dirty="0" err="1"/>
              <a:t>Challenge</a:t>
            </a:r>
            <a:r>
              <a:rPr lang="ro-RO" dirty="0"/>
              <a:t>:</a:t>
            </a:r>
            <a:endParaRPr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B3E258-AE57-E0E0-AF6E-6A118610CA51}"/>
              </a:ext>
            </a:extLst>
          </p:cNvPr>
          <p:cNvSpPr txBox="1"/>
          <p:nvPr/>
        </p:nvSpPr>
        <p:spPr>
          <a:xfrm>
            <a:off x="9672570" y="2481647"/>
            <a:ext cx="808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rgbClr val="FFFF00"/>
                </a:solidFill>
              </a:rPr>
              <a:t>+15 </a:t>
            </a:r>
            <a:r>
              <a:rPr lang="ro-RO" dirty="0" err="1">
                <a:solidFill>
                  <a:srgbClr val="FFFF00"/>
                </a:solidFill>
              </a:rPr>
              <a:t>xp</a:t>
            </a:r>
            <a:endParaRPr lang="en-GB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86042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9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F0E683-4C81-A1D9-D44C-5B2EF9067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697126C-7AC0-02E7-786B-2820752B8222}"/>
              </a:ext>
            </a:extLst>
          </p:cNvPr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900" b="1" i="0">
                <a:solidFill>
                  <a:srgbClr val="B7CCD8"/>
                </a:solidFill>
                <a:latin typeface="Aptos"/>
              </a:defRPr>
            </a:pPr>
            <a:r>
              <a:t>RAU DEV  •  SOFTWARE ENGINEERING CLUB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67F33E-A09A-5F81-B8B3-1D3BC336A380}"/>
              </a:ext>
            </a:extLst>
          </p:cNvPr>
          <p:cNvSpPr txBox="1"/>
          <p:nvPr/>
        </p:nvSpPr>
        <p:spPr>
          <a:xfrm>
            <a:off x="11109960" y="6473952"/>
            <a:ext cx="50292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25E6BB"/>
                </a:solidFill>
                <a:latin typeface="Aptos"/>
              </a:defRPr>
            </a:pPr>
            <a:r>
              <a:rPr lang="ro-RO" dirty="0"/>
              <a:t>14</a:t>
            </a:r>
            <a:endParaRPr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35039D-CA85-DAEF-A81A-0AA2E531880B}"/>
              </a:ext>
            </a:extLst>
          </p:cNvPr>
          <p:cNvSpPr/>
          <p:nvPr/>
        </p:nvSpPr>
        <p:spPr>
          <a:xfrm>
            <a:off x="658368" y="1536192"/>
            <a:ext cx="777240" cy="50292"/>
          </a:xfrm>
          <a:prstGeom prst="rect">
            <a:avLst/>
          </a:prstGeom>
          <a:solidFill>
            <a:srgbClr val="25E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1C46D3-C688-0603-BCBF-D66BB0D87113}"/>
              </a:ext>
            </a:extLst>
          </p:cNvPr>
          <p:cNvSpPr txBox="1"/>
          <p:nvPr/>
        </p:nvSpPr>
        <p:spPr>
          <a:xfrm>
            <a:off x="640080" y="777240"/>
            <a:ext cx="10972800" cy="51398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3100" b="1" i="0">
                <a:solidFill>
                  <a:srgbClr val="F8FBFD"/>
                </a:solidFill>
                <a:latin typeface="Aptos"/>
              </a:defRPr>
            </a:pPr>
            <a:r>
              <a:rPr lang="ro-RO" dirty="0" err="1"/>
              <a:t>Optional</a:t>
            </a:r>
            <a:r>
              <a:rPr lang="ro-RO" dirty="0"/>
              <a:t> </a:t>
            </a:r>
            <a:r>
              <a:rPr lang="ro-RO" dirty="0" err="1"/>
              <a:t>Challenge</a:t>
            </a:r>
            <a:r>
              <a:rPr lang="ro-RO" dirty="0"/>
              <a:t>: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1C6D01-CD4D-DE32-70DB-0E22680CDA99}"/>
              </a:ext>
            </a:extLst>
          </p:cNvPr>
          <p:cNvSpPr txBox="1"/>
          <p:nvPr/>
        </p:nvSpPr>
        <p:spPr>
          <a:xfrm>
            <a:off x="640080" y="3164312"/>
            <a:ext cx="10972800" cy="5293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lang="en-GB" sz="3200" dirty="0">
                <a:solidFill>
                  <a:schemeClr val="bg1"/>
                </a:solidFill>
              </a:rPr>
              <a:t>https://leetcode.com/problems/intersection-of-two-arrays/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2D6480-508A-16CA-7B53-65C45231803C}"/>
              </a:ext>
            </a:extLst>
          </p:cNvPr>
          <p:cNvSpPr txBox="1"/>
          <p:nvPr/>
        </p:nvSpPr>
        <p:spPr>
          <a:xfrm>
            <a:off x="9977370" y="2869055"/>
            <a:ext cx="808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rgbClr val="FFFF00"/>
                </a:solidFill>
              </a:rPr>
              <a:t>+20 </a:t>
            </a:r>
            <a:r>
              <a:rPr lang="ro-RO" dirty="0" err="1">
                <a:solidFill>
                  <a:srgbClr val="FFFF00"/>
                </a:solidFill>
              </a:rPr>
              <a:t>xp</a:t>
            </a:r>
            <a:endParaRPr lang="en-GB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70343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9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530352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4300" b="1" i="0">
                <a:solidFill>
                  <a:srgbClr val="25E6BB"/>
                </a:solidFill>
                <a:latin typeface="Aptos"/>
              </a:defRPr>
            </a:pPr>
            <a:r>
              <a:t>RAU DEV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8046720" cy="20116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3500" b="1" i="0">
                <a:solidFill>
                  <a:srgbClr val="F8FBFD"/>
                </a:solidFill>
                <a:latin typeface="Aptos"/>
              </a:defRPr>
            </a:pPr>
            <a:r>
              <a:t>Build skills.</a:t>
            </a:r>
          </a:p>
          <a:p>
            <a:pPr algn="l">
              <a:spcAft>
                <a:spcPts val="700"/>
              </a:spcAft>
              <a:defRPr sz="3500" b="1" i="0">
                <a:solidFill>
                  <a:srgbClr val="F8FBFD"/>
                </a:solidFill>
                <a:latin typeface="Aptos"/>
              </a:defRPr>
            </a:pPr>
            <a:r>
              <a:t>Share knowledge.</a:t>
            </a:r>
          </a:p>
          <a:p>
            <a:pPr algn="l">
              <a:spcAft>
                <a:spcPts val="700"/>
              </a:spcAft>
              <a:defRPr sz="3500" b="1" i="0">
                <a:solidFill>
                  <a:srgbClr val="F8FBFD"/>
                </a:solidFill>
                <a:latin typeface="Aptos"/>
              </a:defRPr>
            </a:pPr>
            <a:r>
              <a:t>Engineer together.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709160"/>
            <a:ext cx="77724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2200" b="1" i="0">
                <a:solidFill>
                  <a:srgbClr val="B5FFE8"/>
                </a:solidFill>
                <a:latin typeface="Aptos"/>
              </a:defRPr>
            </a:pPr>
            <a:r>
              <a:t>What will you help us build first?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394960"/>
            <a:ext cx="731520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1600" b="0" i="0">
                <a:solidFill>
                  <a:srgbClr val="B7CCD8"/>
                </a:solidFill>
                <a:latin typeface="Aptos"/>
              </a:defRPr>
            </a:pPr>
            <a:r>
              <a:t>Questions • Ideas • Introductions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  <a:defRPr sz="900" b="1" i="0">
                <a:solidFill>
                  <a:srgbClr val="B7CCD8"/>
                </a:solidFill>
                <a:latin typeface="Aptos"/>
              </a:defRPr>
            </a:pPr>
            <a:r>
              <a:t>RAU DEV  •  SOFTWARE ENGINEERING CLUB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50292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700"/>
              </a:spcAft>
              <a:defRPr sz="1000" b="1" i="0">
                <a:solidFill>
                  <a:srgbClr val="25E6BB"/>
                </a:solidFill>
                <a:latin typeface="Aptos"/>
              </a:defRPr>
            </a:pPr>
            <a:r>
              <a:rPr lang="ro-RO" dirty="0"/>
              <a:t>15</a:t>
            </a:r>
            <a:endParaRPr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D05165B-3EB5-6B7C-3C2D-D2C811AA7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6312" y="2265019"/>
            <a:ext cx="1160625" cy="1183162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0C4830CA-205F-940E-2BCC-8B85590996BB}"/>
              </a:ext>
            </a:extLst>
          </p:cNvPr>
          <p:cNvGrpSpPr/>
          <p:nvPr/>
        </p:nvGrpSpPr>
        <p:grpSpPr>
          <a:xfrm>
            <a:off x="8778240" y="2651101"/>
            <a:ext cx="1823460" cy="369332"/>
            <a:chOff x="10347186" y="3498580"/>
            <a:chExt cx="1823460" cy="369332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DC39E03-E0DA-251C-A97C-BE579D83610F}"/>
                </a:ext>
              </a:extLst>
            </p:cNvPr>
            <p:cNvSpPr txBox="1"/>
            <p:nvPr/>
          </p:nvSpPr>
          <p:spPr>
            <a:xfrm>
              <a:off x="10674852" y="3498580"/>
              <a:ext cx="14957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o-RO" dirty="0">
                  <a:solidFill>
                    <a:schemeClr val="bg1"/>
                  </a:solidFill>
                </a:rPr>
                <a:t>@</a:t>
              </a:r>
              <a:r>
                <a:rPr lang="en-GB" b="1" dirty="0" err="1">
                  <a:solidFill>
                    <a:schemeClr val="bg1"/>
                  </a:solidFill>
                </a:rPr>
                <a:t>raudev.club</a:t>
              </a:r>
              <a:endParaRPr lang="en-GB" b="1" dirty="0">
                <a:solidFill>
                  <a:schemeClr val="bg1"/>
                </a:solidFill>
              </a:endParaRPr>
            </a:p>
          </p:txBody>
        </p:sp>
        <p:pic>
          <p:nvPicPr>
            <p:cNvPr id="16" name="Picture 15" descr="File:Instagram logo 2022.svg - Wikimedia Commons">
              <a:extLst>
                <a:ext uri="{FF2B5EF4-FFF2-40B4-BE49-F238E27FC236}">
                  <a16:creationId xmlns:a16="http://schemas.microsoft.com/office/drawing/2014/main" id="{CE9A7E94-6B75-9C4C-1C65-AE700C2D85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47186" y="3540246"/>
              <a:ext cx="327666" cy="32766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9E25F3-A0B5-5F5E-57C7-1DA3C31BE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1562" y="0"/>
            <a:ext cx="7068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644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DE916E-21F7-82AE-85CC-673C4F96F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875" y="0"/>
            <a:ext cx="80962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450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563</Words>
  <Application>Microsoft Office PowerPoint</Application>
  <PresentationFormat>Widescreen</PresentationFormat>
  <Paragraphs>135</Paragraphs>
  <Slides>18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RAU DEV — First Session</dc:title>
  <dc:subject>Kickoff presentation for the RAU DEV Software Engineering Club</dc:subject>
  <dc:creator>RAU DEV</dc:creator>
  <cp:keywords>RAU DEV, software engineering, student club, kickoff</cp:keywords>
  <dc:description>generated using python-pptx</dc:description>
  <cp:lastModifiedBy>Tiberiu-Gabriel C. PODAREANU</cp:lastModifiedBy>
  <cp:revision>17</cp:revision>
  <dcterms:created xsi:type="dcterms:W3CDTF">2013-01-27T09:14:16Z</dcterms:created>
  <dcterms:modified xsi:type="dcterms:W3CDTF">2026-10-16T05:05:20Z</dcterms:modified>
  <cp:category/>
</cp:coreProperties>
</file>